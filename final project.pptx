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4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49" r:id="rId2"/>
    <p:sldMasterId id="2147483767" r:id="rId3"/>
    <p:sldMasterId id="2147483785" r:id="rId4"/>
    <p:sldMasterId id="2147483821" r:id="rId5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9BCE8-F72E-43B4-963A-3281094D2C0E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BDDB70-FF05-4AAC-8E56-7F1062C4F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7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BDDB70-FF05-4AAC-8E56-7F1062C4F7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29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5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88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29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56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04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21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37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78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2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83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343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36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7094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71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86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58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477182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0780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59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295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949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332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768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760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275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516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463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65217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08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319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83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985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83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799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124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699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672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746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443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136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76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375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3257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839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92861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533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907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611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2514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332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20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265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335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2873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949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737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89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5701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0695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5411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522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77076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296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1880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2056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404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1729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861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5881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2843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7331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559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1083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83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7047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9902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1832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4582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189195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8307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112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2582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4103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9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0.xml"/><Relationship Id="rId19" Type="http://schemas.openxmlformats.org/officeDocument/2006/relationships/image" Target="../media/image9.png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70.xml"/><Relationship Id="rId21" Type="http://schemas.openxmlformats.org/officeDocument/2006/relationships/image" Target="../media/image12.png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19" Type="http://schemas.openxmlformats.org/officeDocument/2006/relationships/image" Target="../media/image10.png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Relationship Id="rId22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01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30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869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891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870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  <p:sldLayoutId id="214748383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4703" y="2356833"/>
            <a:ext cx="10721340" cy="6979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smtClean="0">
                <a:solidFill>
                  <a:srgbClr val="0F172A"/>
                </a:solidFill>
                <a:latin typeface="Merriweather Black"/>
              </a:rPr>
              <a:t>House Plant Watering Scheduler</a:t>
            </a:r>
            <a:endParaRPr sz="4800" b="1" i="0" u="none" dirty="0">
              <a:solidFill>
                <a:srgbClr val="0F172A"/>
              </a:solidFill>
              <a:latin typeface="Merriweather Blac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19200" y="3224212"/>
            <a:ext cx="102108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 dirty="0">
                <a:solidFill>
                  <a:srgbClr val="475569"/>
                </a:solidFill>
                <a:latin typeface="Inter Light"/>
              </a:rPr>
              <a:t>A Comprehensive Overview of Objectives, Methods, and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3338" y="4687713"/>
            <a:ext cx="1021080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sng" dirty="0">
                <a:solidFill>
                  <a:schemeClr val="accent2">
                    <a:lumMod val="75000"/>
                  </a:schemeClr>
                </a:solidFill>
                <a:latin typeface="Inter SemiBold"/>
              </a:rPr>
              <a:t>Presented by</a:t>
            </a:r>
            <a:r>
              <a:rPr sz="1500" b="0" i="0" u="sng" dirty="0" smtClean="0">
                <a:solidFill>
                  <a:schemeClr val="accent2">
                    <a:lumMod val="75000"/>
                  </a:schemeClr>
                </a:solidFill>
                <a:latin typeface="Inter SemiBold"/>
              </a:rPr>
              <a:t>:</a:t>
            </a:r>
            <a:endParaRPr lang="en-US" sz="1500" b="0" i="0" u="sng" dirty="0" smtClean="0">
              <a:solidFill>
                <a:schemeClr val="accent2">
                  <a:lumMod val="75000"/>
                </a:schemeClr>
              </a:solidFill>
              <a:latin typeface="Inter SemiBold"/>
            </a:endParaRPr>
          </a:p>
          <a:p>
            <a:pPr algn="l"/>
            <a:r>
              <a:rPr lang="en-US" sz="1500" b="0" i="0" u="none" dirty="0" smtClean="0">
                <a:solidFill>
                  <a:schemeClr val="accent2">
                    <a:lumMod val="75000"/>
                  </a:schemeClr>
                </a:solidFill>
                <a:latin typeface="Inter SemiBold"/>
              </a:rPr>
              <a:t/>
            </a:r>
            <a:br>
              <a:rPr lang="en-US" sz="1500" b="0" i="0" u="none" dirty="0" smtClean="0">
                <a:solidFill>
                  <a:schemeClr val="accent2">
                    <a:lumMod val="75000"/>
                  </a:schemeClr>
                </a:solidFill>
                <a:latin typeface="Inter SemiBold"/>
              </a:rPr>
            </a:br>
            <a:r>
              <a:rPr sz="1500" b="1" i="0" u="none" dirty="0" smtClean="0">
                <a:solidFill>
                  <a:schemeClr val="accent2">
                    <a:lumMod val="75000"/>
                  </a:schemeClr>
                </a:solidFill>
                <a:latin typeface="Inter SemiBold"/>
              </a:rPr>
              <a:t> </a:t>
            </a:r>
            <a:r>
              <a:rPr lang="en-US" sz="1500" b="1" dirty="0" smtClean="0">
                <a:solidFill>
                  <a:schemeClr val="accent2">
                    <a:lumMod val="75000"/>
                  </a:schemeClr>
                </a:solidFill>
                <a:latin typeface="Inter SemiBold"/>
              </a:rPr>
              <a:t>Adiyat Mahmud Neel</a:t>
            </a:r>
            <a:br>
              <a:rPr lang="en-US" sz="1500" b="1" dirty="0" smtClean="0">
                <a:solidFill>
                  <a:schemeClr val="accent2">
                    <a:lumMod val="75000"/>
                  </a:schemeClr>
                </a:solidFill>
                <a:latin typeface="Inter SemiBold"/>
              </a:rPr>
            </a:br>
            <a:r>
              <a:rPr lang="en-US" sz="1500" b="1" dirty="0" err="1" smtClean="0">
                <a:solidFill>
                  <a:schemeClr val="accent2">
                    <a:lumMod val="75000"/>
                  </a:schemeClr>
                </a:solidFill>
                <a:latin typeface="Inter SemiBold"/>
              </a:rPr>
              <a:t>Ashan</a:t>
            </a:r>
            <a:r>
              <a:rPr lang="en-US" sz="1500" b="1" dirty="0" smtClean="0">
                <a:solidFill>
                  <a:schemeClr val="accent2">
                    <a:lumMod val="75000"/>
                  </a:schemeClr>
                </a:solidFill>
                <a:latin typeface="Inter SemiBold"/>
              </a:rPr>
              <a:t> Moni</a:t>
            </a:r>
            <a:br>
              <a:rPr lang="en-US" sz="1500" b="1" dirty="0" smtClean="0">
                <a:solidFill>
                  <a:schemeClr val="accent2">
                    <a:lumMod val="75000"/>
                  </a:schemeClr>
                </a:solidFill>
                <a:latin typeface="Inter SemiBold"/>
              </a:rPr>
            </a:br>
            <a:r>
              <a:rPr lang="en-US" sz="1500" b="1" dirty="0" err="1" smtClean="0">
                <a:solidFill>
                  <a:schemeClr val="accent2">
                    <a:lumMod val="75000"/>
                  </a:schemeClr>
                </a:solidFill>
                <a:latin typeface="Inter SemiBold"/>
              </a:rPr>
              <a:t>Joyaned</a:t>
            </a:r>
            <a:r>
              <a:rPr lang="en-US" sz="1500" b="1" dirty="0" smtClean="0">
                <a:solidFill>
                  <a:schemeClr val="accent2">
                    <a:lumMod val="75000"/>
                  </a:schemeClr>
                </a:solidFill>
                <a:latin typeface="Inter SemiBold"/>
              </a:rPr>
              <a:t> Hossain</a:t>
            </a:r>
            <a:endParaRPr sz="1500" b="1" i="0" u="none" dirty="0">
              <a:solidFill>
                <a:schemeClr val="accent2">
                  <a:lumMod val="75000"/>
                </a:schemeClr>
              </a:solidFill>
              <a:latin typeface="Inter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19200" y="4355752"/>
            <a:ext cx="102108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smtClean="0">
                <a:solidFill>
                  <a:srgbClr val="64748B"/>
                </a:solidFill>
                <a:latin typeface="Inter"/>
              </a:rPr>
              <a:t>[</a:t>
            </a:r>
            <a:r>
              <a:rPr lang="en-US" sz="1350" b="0" i="0" u="none" dirty="0" smtClean="0">
                <a:solidFill>
                  <a:srgbClr val="64748B"/>
                </a:solidFill>
                <a:latin typeface="Inter"/>
              </a:rPr>
              <a:t>CSE 215, Section 11</a:t>
            </a:r>
            <a:r>
              <a:rPr sz="1350" b="0" i="0" u="none" dirty="0" smtClean="0">
                <a:solidFill>
                  <a:srgbClr val="64748B"/>
                </a:solidFill>
                <a:latin typeface="Inter"/>
              </a:rPr>
              <a:t>] 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• </a:t>
            </a:r>
            <a:r>
              <a:rPr sz="1350" b="0" i="0" u="none" dirty="0" smtClean="0">
                <a:solidFill>
                  <a:srgbClr val="64748B"/>
                </a:solidFill>
                <a:latin typeface="Inter"/>
              </a:rPr>
              <a:t>[</a:t>
            </a:r>
            <a:r>
              <a:rPr lang="en-US" sz="1350" dirty="0" smtClean="0">
                <a:solidFill>
                  <a:srgbClr val="64748B"/>
                </a:solidFill>
                <a:latin typeface="Inter"/>
              </a:rPr>
              <a:t>Faculty : </a:t>
            </a:r>
            <a:r>
              <a:rPr lang="en-US" sz="1350" b="0" i="0" u="none" dirty="0" smtClean="0">
                <a:solidFill>
                  <a:srgbClr val="64748B"/>
                </a:solidFill>
                <a:latin typeface="Inter"/>
              </a:rPr>
              <a:t>SAM3</a:t>
            </a:r>
            <a:r>
              <a:rPr sz="1350" b="0" i="0" u="none" dirty="0" smtClean="0">
                <a:solidFill>
                  <a:srgbClr val="64748B"/>
                </a:solidFill>
                <a:latin typeface="Inter"/>
              </a:rPr>
              <a:t>]</a:t>
            </a:r>
            <a:endParaRPr sz="1350" b="0" i="0" u="none" dirty="0">
              <a:solidFill>
                <a:srgbClr val="64748B"/>
              </a:solidFill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15000" y="2537519"/>
            <a:ext cx="762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55557" y="2861369"/>
            <a:ext cx="708088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chemeClr val="accent2">
                    <a:lumMod val="75000"/>
                  </a:schemeClr>
                </a:solidFill>
                <a:latin typeface="Merriweather"/>
              </a:rPr>
              <a:t>01. The </a:t>
            </a:r>
            <a:r>
              <a:rPr sz="4800" b="1" i="0" u="none" dirty="0" smtClean="0">
                <a:solidFill>
                  <a:schemeClr val="accent2">
                    <a:lumMod val="75000"/>
                  </a:schemeClr>
                </a:solidFill>
                <a:latin typeface="Merriweather"/>
              </a:rPr>
              <a:t>Problem</a:t>
            </a:r>
            <a:r>
              <a:rPr lang="en-US" sz="4800" b="1" i="0" u="none" dirty="0" smtClean="0">
                <a:solidFill>
                  <a:schemeClr val="accent2">
                    <a:lumMod val="75000"/>
                  </a:schemeClr>
                </a:solidFill>
                <a:latin typeface="Merriweather"/>
              </a:rPr>
              <a:t>:</a:t>
            </a:r>
            <a:endParaRPr sz="4800" b="1" i="0" u="none" dirty="0">
              <a:solidFill>
                <a:schemeClr val="accent2">
                  <a:lumMod val="75000"/>
                </a:schemeClr>
              </a:solidFill>
              <a:latin typeface="Merriweath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0" y="3813869"/>
            <a:ext cx="7620000" cy="363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</a:rPr>
              <a:t>Remembering when to water different types of indoor plants</a:t>
            </a:r>
            <a:endParaRPr sz="1950" b="0" i="1" u="none" dirty="0">
              <a:solidFill>
                <a:schemeClr val="accent2">
                  <a:lumMod val="75000"/>
                </a:schemeClr>
              </a:solidFill>
              <a:latin typeface="Inter Light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2191999" y="-317888"/>
            <a:ext cx="12757135" cy="7175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352" y="1303897"/>
            <a:ext cx="5390309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400" b="1" dirty="0"/>
              <a:t>The Real-World Problem (The User's Pain Point)</a:t>
            </a:r>
          </a:p>
          <a:p>
            <a:pPr algn="l"/>
            <a:endParaRPr sz="2400" b="1" i="0" u="none" dirty="0">
              <a:solidFill>
                <a:srgbClr val="0F172A"/>
              </a:solidFill>
              <a:latin typeface="Merriweath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799" y="2303929"/>
            <a:ext cx="7414010" cy="338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334155"/>
                </a:solidFill>
                <a:latin typeface="Inter"/>
              </a:rPr>
              <a:t>Plant Care Complexity: Indoor plants have wildly different moisture requirements. A Succulent only needs water every 14–30 days, while a Fern needs water every 3–5 </a:t>
            </a:r>
            <a:r>
              <a:rPr lang="en-US" sz="1500" dirty="0" smtClean="0">
                <a:solidFill>
                  <a:srgbClr val="334155"/>
                </a:solidFill>
                <a:latin typeface="Inter"/>
              </a:rPr>
              <a:t>days. (But for the sake of demonstration, we used 15 seconds for ferns and 7 days for succulents)</a:t>
            </a:r>
            <a:br>
              <a:rPr lang="en-US" sz="1500" dirty="0" smtClean="0">
                <a:solidFill>
                  <a:srgbClr val="334155"/>
                </a:solidFill>
                <a:latin typeface="Inter"/>
              </a:rPr>
            </a:br>
            <a:r>
              <a:rPr lang="en-US" sz="1500" dirty="0" smtClean="0">
                <a:solidFill>
                  <a:srgbClr val="334155"/>
                </a:solidFill>
                <a:latin typeface="Inter"/>
              </a:rPr>
              <a:t/>
            </a:r>
            <a:br>
              <a:rPr lang="en-US" sz="1500" dirty="0" smtClean="0">
                <a:solidFill>
                  <a:srgbClr val="334155"/>
                </a:solidFill>
                <a:latin typeface="Inter"/>
              </a:rPr>
            </a:br>
            <a:r>
              <a:rPr lang="en-US" sz="1500" dirty="0" smtClean="0">
                <a:solidFill>
                  <a:srgbClr val="334155"/>
                </a:solidFill>
                <a:latin typeface="Inter"/>
              </a:rPr>
              <a:t>Human </a:t>
            </a:r>
            <a:r>
              <a:rPr lang="en-US" sz="1500" dirty="0">
                <a:solidFill>
                  <a:srgbClr val="334155"/>
                </a:solidFill>
                <a:latin typeface="Inter"/>
              </a:rPr>
              <a:t>Error: People frequently forget when they last watered a plant, leading to overwatering (root rot) or </a:t>
            </a:r>
            <a:r>
              <a:rPr lang="en-US" sz="1500" dirty="0" smtClean="0">
                <a:solidFill>
                  <a:srgbClr val="334155"/>
                </a:solidFill>
                <a:latin typeface="Inter"/>
              </a:rPr>
              <a:t>‘under-watering’ </a:t>
            </a:r>
            <a:r>
              <a:rPr lang="en-US" sz="1500" dirty="0">
                <a:solidFill>
                  <a:srgbClr val="334155"/>
                </a:solidFill>
                <a:latin typeface="Inter"/>
              </a:rPr>
              <a:t>(drying </a:t>
            </a:r>
            <a:r>
              <a:rPr lang="en-US" sz="1500" dirty="0" smtClean="0">
                <a:solidFill>
                  <a:srgbClr val="334155"/>
                </a:solidFill>
                <a:latin typeface="Inter"/>
              </a:rPr>
              <a:t>out), which are the leading </a:t>
            </a:r>
            <a:r>
              <a:rPr lang="en-US" sz="1500" dirty="0">
                <a:solidFill>
                  <a:srgbClr val="334155"/>
                </a:solidFill>
                <a:latin typeface="Inter"/>
              </a:rPr>
              <a:t>causes of houseplant death</a:t>
            </a:r>
            <a:r>
              <a:rPr lang="en-US" sz="1500" dirty="0" smtClean="0">
                <a:solidFill>
                  <a:srgbClr val="334155"/>
                </a:solidFill>
                <a:latin typeface="Inter"/>
              </a:rPr>
              <a:t>.</a:t>
            </a:r>
            <a:br>
              <a:rPr lang="en-US" sz="1500" dirty="0" smtClean="0">
                <a:solidFill>
                  <a:srgbClr val="334155"/>
                </a:solidFill>
                <a:latin typeface="Inter"/>
              </a:rPr>
            </a:br>
            <a:r>
              <a:rPr lang="en-US" sz="1500" dirty="0" smtClean="0">
                <a:solidFill>
                  <a:srgbClr val="334155"/>
                </a:solidFill>
                <a:latin typeface="Inter"/>
              </a:rPr>
              <a:t/>
            </a:r>
            <a:br>
              <a:rPr lang="en-US" sz="1500" dirty="0" smtClean="0">
                <a:solidFill>
                  <a:srgbClr val="334155"/>
                </a:solidFill>
                <a:latin typeface="Inter"/>
              </a:rPr>
            </a:br>
            <a:r>
              <a:rPr lang="en-US" sz="1500" dirty="0" smtClean="0">
                <a:solidFill>
                  <a:srgbClr val="334155"/>
                </a:solidFill>
                <a:latin typeface="Inter"/>
              </a:rPr>
              <a:t>Lack </a:t>
            </a:r>
            <a:r>
              <a:rPr lang="en-US" sz="1500" dirty="0">
                <a:solidFill>
                  <a:srgbClr val="334155"/>
                </a:solidFill>
                <a:latin typeface="Inter"/>
              </a:rPr>
              <a:t>of Visibility: It's hard to tell which plant is thirsty just by looking at a room full of pots until the plant is already wilting.</a:t>
            </a:r>
            <a:endParaRPr sz="15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6300" y="2380712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2563EB"/>
                </a:solidFill>
                <a:latin typeface="Inter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943" y="3562302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2563EB"/>
                </a:solidFill>
                <a:latin typeface="Inter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476" y="50815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2563EB"/>
                </a:solidFill>
                <a:latin typeface="Inter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7150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 smtClean="0">
                <a:solidFill>
                  <a:srgbClr val="1E3A8A"/>
                </a:solidFill>
                <a:latin typeface="Merriweather"/>
              </a:rPr>
              <a:t>Defining the Challenge</a:t>
            </a:r>
            <a:r>
              <a:rPr lang="en-US" sz="3150" b="1" i="0" u="none" dirty="0" smtClean="0">
                <a:solidFill>
                  <a:srgbClr val="1E3A8A"/>
                </a:solidFill>
                <a:latin typeface="Merriweather"/>
              </a:rPr>
              <a:t>s</a:t>
            </a:r>
            <a:endParaRPr sz="3150" b="1" i="0" u="none" dirty="0">
              <a:solidFill>
                <a:srgbClr val="1E3A8A"/>
              </a:solidFill>
              <a:latin typeface="Merriweath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25827" y="1529516"/>
            <a:ext cx="8140345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dirty="0">
                <a:latin typeface="Inter"/>
              </a:rPr>
              <a:t>Indoor plants die because owners forget </a:t>
            </a:r>
            <a:r>
              <a:rPr lang="en-US" sz="2400" dirty="0" smtClean="0">
                <a:latin typeface="Inter"/>
              </a:rPr>
              <a:t>when they last watered, so </a:t>
            </a:r>
            <a:r>
              <a:rPr lang="en-US" sz="2400" dirty="0">
                <a:latin typeface="Inter"/>
              </a:rPr>
              <a:t>our application solves this by </a:t>
            </a:r>
            <a:r>
              <a:rPr lang="en-US" sz="2400" dirty="0" smtClean="0">
                <a:latin typeface="Inter"/>
              </a:rPr>
              <a:t>using OOP to provide </a:t>
            </a:r>
            <a:r>
              <a:rPr lang="en-US" sz="2400" dirty="0">
                <a:latin typeface="Inter"/>
              </a:rPr>
              <a:t>real-time visual alerts when a plant is </a:t>
            </a:r>
            <a:r>
              <a:rPr lang="en-US" sz="2400" dirty="0" smtClean="0">
                <a:latin typeface="Inter"/>
              </a:rPr>
              <a:t>thirsty depending on its type.</a:t>
            </a:r>
            <a:endParaRPr sz="240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1E3A8A"/>
                </a:solidFill>
                <a:latin typeface="Merriweather"/>
              </a:rPr>
              <a:t>The Impact of 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04" name="Picture 8" descr="27 Low-Maintenance Indoor Plants to Brighten Any Ro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608" y="3307636"/>
            <a:ext cx="2174417" cy="217441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loe Vera Plant | Medicinal | Care Difficulty - Easy | AmieSue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955" y="3307635"/>
            <a:ext cx="3244137" cy="244073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crets on How Not to Kill Your Indoor Fer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25" y="2922791"/>
            <a:ext cx="2494801" cy="31263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/>
        </p:spPr>
      </p:pic>
      <p:pic>
        <p:nvPicPr>
          <p:cNvPr id="1030" name="Picture 6" descr="7 Dragon fruit ideas | dragon fruit plant, fruit plants, dragon frui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544" y="2703755"/>
            <a:ext cx="2349256" cy="3527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15000" y="2537519"/>
            <a:ext cx="762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35567" y="2861369"/>
            <a:ext cx="692086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chemeClr val="accent6">
                    <a:lumMod val="75000"/>
                  </a:schemeClr>
                </a:solidFill>
                <a:latin typeface="Merriweather"/>
              </a:rPr>
              <a:t>02.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813869"/>
            <a:ext cx="7620000" cy="752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1" i="0" u="none" dirty="0">
                <a:solidFill>
                  <a:schemeClr val="accent6">
                    <a:lumMod val="75000"/>
                  </a:schemeClr>
                </a:solidFill>
                <a:latin typeface="Inter Light"/>
              </a:rPr>
              <a:t>Our methodology, architectural design, and strategic approach to solving the identified problem.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57271"/>
            <a:ext cx="4371099" cy="433224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247" y="1660952"/>
            <a:ext cx="4371099" cy="433224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6" y="2816808"/>
            <a:ext cx="989698" cy="9896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4900" y="2065744"/>
            <a:ext cx="3039765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950" b="1" dirty="0">
                <a:solidFill>
                  <a:srgbClr val="0F172A"/>
                </a:solidFill>
                <a:latin typeface="Merriweather"/>
              </a:rPr>
              <a:t>Automated Visual Alerts: </a:t>
            </a:r>
            <a:endParaRPr sz="1950" b="1" i="0" u="none" dirty="0">
              <a:solidFill>
                <a:srgbClr val="0F172A"/>
              </a:solidFill>
              <a:latin typeface="Merriweathe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523" y="2820489"/>
            <a:ext cx="989698" cy="9896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3523" y="2029181"/>
            <a:ext cx="3039765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950" b="1" dirty="0">
                <a:solidFill>
                  <a:srgbClr val="0F172A"/>
                </a:solidFill>
                <a:latin typeface="Merriweather"/>
              </a:rPr>
              <a:t>Decoupled Architecture: </a:t>
            </a:r>
            <a:endParaRPr sz="1950" b="1" i="0" u="none" dirty="0">
              <a:solidFill>
                <a:srgbClr val="0F172A"/>
              </a:solidFill>
              <a:latin typeface="Merriweath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23523" y="4091328"/>
            <a:ext cx="2895014" cy="112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z="1400" dirty="0" smtClean="0">
                <a:latin typeface="Inter"/>
              </a:rPr>
              <a:t>Separates </a:t>
            </a:r>
            <a:r>
              <a:rPr lang="en-US" sz="1400" dirty="0">
                <a:latin typeface="Inter"/>
              </a:rPr>
              <a:t>underlying plant moisture rules </a:t>
            </a:r>
            <a:r>
              <a:rPr lang="en-US" sz="1400" dirty="0" smtClean="0">
                <a:latin typeface="Inter"/>
              </a:rPr>
              <a:t>and program code from </a:t>
            </a:r>
            <a:r>
              <a:rPr lang="en-US" sz="1400" dirty="0">
                <a:latin typeface="Inter"/>
              </a:rPr>
              <a:t>visual presentation </a:t>
            </a:r>
            <a:r>
              <a:rPr lang="en-US" sz="1400" dirty="0" smtClean="0">
                <a:latin typeface="Inter"/>
              </a:rPr>
              <a:t>using </a:t>
            </a:r>
            <a:r>
              <a:rPr lang="en-US" sz="1400" dirty="0">
                <a:latin typeface="Inter"/>
              </a:rPr>
              <a:t>Object-Oriented </a:t>
            </a:r>
            <a:r>
              <a:rPr lang="en-US" sz="1400" dirty="0" smtClean="0">
                <a:latin typeface="Inter"/>
              </a:rPr>
              <a:t>Principles and </a:t>
            </a:r>
            <a:r>
              <a:rPr lang="en-US" sz="1400" dirty="0">
                <a:latin typeface="Inter"/>
              </a:rPr>
              <a:t>J</a:t>
            </a:r>
            <a:r>
              <a:rPr lang="en-US" sz="1400" dirty="0" smtClean="0">
                <a:latin typeface="Inter"/>
              </a:rPr>
              <a:t>ava Swing.</a:t>
            </a:r>
            <a:endParaRPr sz="135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7276" y="4072286"/>
            <a:ext cx="2895014" cy="141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z="1350" dirty="0" smtClean="0">
                <a:solidFill>
                  <a:srgbClr val="334155"/>
                </a:solidFill>
                <a:latin typeface="Inter"/>
              </a:rPr>
              <a:t>Replaces </a:t>
            </a:r>
            <a:r>
              <a:rPr lang="en-US" sz="1350" dirty="0">
                <a:solidFill>
                  <a:srgbClr val="334155"/>
                </a:solidFill>
                <a:latin typeface="Inter"/>
              </a:rPr>
              <a:t>manual tracking with dynamic status </a:t>
            </a:r>
            <a:r>
              <a:rPr lang="en-US" sz="1350" dirty="0" smtClean="0">
                <a:solidFill>
                  <a:srgbClr val="334155"/>
                </a:solidFill>
                <a:latin typeface="Inter"/>
              </a:rPr>
              <a:t>updates; cards </a:t>
            </a:r>
            <a:r>
              <a:rPr lang="en-US" sz="1350" dirty="0">
                <a:solidFill>
                  <a:srgbClr val="334155"/>
                </a:solidFill>
                <a:latin typeface="Inter"/>
              </a:rPr>
              <a:t>change </a:t>
            </a:r>
            <a:r>
              <a:rPr lang="en-US" sz="1350" dirty="0" smtClean="0">
                <a:solidFill>
                  <a:srgbClr val="334155"/>
                </a:solidFill>
                <a:latin typeface="Inter"/>
              </a:rPr>
              <a:t>color to </a:t>
            </a:r>
            <a:r>
              <a:rPr lang="en-US" sz="1350" b="1" dirty="0" smtClean="0">
                <a:solidFill>
                  <a:srgbClr val="FF0000"/>
                </a:solidFill>
                <a:latin typeface="Inter"/>
              </a:rPr>
              <a:t>RED</a:t>
            </a:r>
            <a:r>
              <a:rPr lang="en-US" sz="1350" dirty="0" smtClean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350" dirty="0">
                <a:solidFill>
                  <a:srgbClr val="334155"/>
                </a:solidFill>
                <a:latin typeface="Inter"/>
              </a:rPr>
              <a:t>automatically when a plant requires </a:t>
            </a:r>
            <a:r>
              <a:rPr lang="en-US" sz="1350" dirty="0" smtClean="0">
                <a:solidFill>
                  <a:srgbClr val="334155"/>
                </a:solidFill>
                <a:latin typeface="Inter"/>
              </a:rPr>
              <a:t>attention, and </a:t>
            </a:r>
            <a:r>
              <a:rPr lang="en-US" sz="1350" b="1" dirty="0" smtClean="0">
                <a:solidFill>
                  <a:srgbClr val="00B050"/>
                </a:solidFill>
                <a:latin typeface="Inter"/>
              </a:rPr>
              <a:t>green</a:t>
            </a:r>
            <a:r>
              <a:rPr lang="en-US" sz="1350" dirty="0" smtClean="0">
                <a:solidFill>
                  <a:srgbClr val="334155"/>
                </a:solidFill>
                <a:latin typeface="Inter"/>
              </a:rPr>
              <a:t> when it doesn’t need water.</a:t>
            </a:r>
            <a:endParaRPr sz="1350" b="0" i="0" u="none" dirty="0">
              <a:solidFill>
                <a:srgbClr val="334155"/>
              </a:solidFill>
              <a:latin typeface="Inter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775" y="3121157"/>
            <a:ext cx="494849" cy="49484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6397" y="3124838"/>
            <a:ext cx="618561" cy="4948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2000" y="57150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150" b="1" dirty="0">
                <a:solidFill>
                  <a:srgbClr val="1E3A8A"/>
                </a:solidFill>
                <a:latin typeface="Merriweather"/>
              </a:rPr>
              <a:t>The Solution Overview</a:t>
            </a:r>
            <a:endParaRPr sz="3150" b="1" i="0" u="none" dirty="0">
              <a:solidFill>
                <a:srgbClr val="1E3A8A"/>
              </a:solidFill>
              <a:latin typeface="Merriweath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40000"/>
                <a:lumOff val="60000"/>
              </a:schemeClr>
            </a:gs>
            <a:gs pos="73000">
              <a:schemeClr val="accent2">
                <a:lumMod val="95000"/>
                <a:lumOff val="5000"/>
              </a:schemeClr>
            </a:gs>
            <a:gs pos="98000">
              <a:schemeClr val="accent2">
                <a:alpha val="79000"/>
                <a:lumMod val="69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75582"/>
            <a:ext cx="3365450" cy="3345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00" y="2275582"/>
            <a:ext cx="3365450" cy="3345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275582"/>
            <a:ext cx="3365450" cy="3345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985676" y="2507022"/>
            <a:ext cx="2965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500" b="1" dirty="0" smtClean="0">
                <a:solidFill>
                  <a:srgbClr val="0F172A"/>
                </a:solidFill>
                <a:latin typeface="Merriweather"/>
              </a:rPr>
              <a:t>Interface (</a:t>
            </a:r>
            <a:r>
              <a:rPr lang="en-US" sz="1500" b="1" dirty="0" err="1">
                <a:solidFill>
                  <a:srgbClr val="0F172A"/>
                </a:solidFill>
                <a:latin typeface="Merriweather"/>
              </a:rPr>
              <a:t>Alertable</a:t>
            </a:r>
            <a:r>
              <a:rPr lang="en-US" sz="1500" b="1" dirty="0">
                <a:solidFill>
                  <a:srgbClr val="0F172A"/>
                </a:solidFill>
                <a:latin typeface="Merriweather"/>
              </a:rPr>
              <a:t>):</a:t>
            </a:r>
            <a:endParaRPr sz="1500" b="1" i="0" u="none" dirty="0">
              <a:solidFill>
                <a:srgbClr val="0F172A"/>
              </a:solidFill>
              <a:latin typeface="Merriweath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2024" y="2837124"/>
            <a:ext cx="2965400" cy="1461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200" dirty="0">
                <a:solidFill>
                  <a:srgbClr val="334155"/>
                </a:solidFill>
                <a:latin typeface="Inter"/>
              </a:rPr>
              <a:t>Decouples UI visual warnings from core plant logic</a:t>
            </a: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.</a:t>
            </a:r>
          </a:p>
          <a:p>
            <a:pPr algn="ctr">
              <a:lnSpc>
                <a:spcPts val="1920"/>
              </a:lnSpc>
            </a:pPr>
            <a:r>
              <a:rPr lang="en-US" sz="1200" dirty="0" smtClean="0">
                <a:solidFill>
                  <a:srgbClr val="334155"/>
                </a:solidFill>
                <a:latin typeface="Inter"/>
              </a:rPr>
              <a:t/>
            </a:r>
            <a:br>
              <a:rPr lang="en-US" sz="1200" dirty="0" smtClean="0">
                <a:solidFill>
                  <a:srgbClr val="334155"/>
                </a:solidFill>
                <a:latin typeface="Inter"/>
              </a:rPr>
            </a:b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Guarantees </a:t>
            </a:r>
            <a:r>
              <a:rPr lang="en-US" sz="1200" dirty="0">
                <a:solidFill>
                  <a:srgbClr val="334155"/>
                </a:solidFill>
                <a:latin typeface="Inter"/>
              </a:rPr>
              <a:t>that any plant object can trigger standard GUI </a:t>
            </a: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feedback</a:t>
            </a:r>
          </a:p>
          <a:p>
            <a:pPr algn="ctr">
              <a:lnSpc>
                <a:spcPts val="1920"/>
              </a:lnSpc>
            </a:pP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200" dirty="0">
                <a:solidFill>
                  <a:srgbClr val="334155"/>
                </a:solidFill>
                <a:latin typeface="Inter"/>
              </a:rPr>
              <a:t>(</a:t>
            </a:r>
            <a:r>
              <a:rPr lang="en-US" sz="1200" i="1" dirty="0" err="1">
                <a:solidFill>
                  <a:srgbClr val="334155"/>
                </a:solidFill>
                <a:latin typeface="Inter"/>
              </a:rPr>
              <a:t>triggerWarning</a:t>
            </a:r>
            <a:r>
              <a:rPr lang="en-US" sz="1200" i="1" dirty="0" smtClean="0">
                <a:solidFill>
                  <a:srgbClr val="334155"/>
                </a:solidFill>
                <a:latin typeface="Inter"/>
              </a:rPr>
              <a:t>() </a:t>
            </a: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).</a:t>
            </a:r>
            <a:endParaRPr sz="12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3392" y="2874337"/>
            <a:ext cx="234885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Abstraction &amp; Inheritance:</a:t>
            </a:r>
            <a:endParaRPr sz="1650" b="1" i="0" u="none" dirty="0">
              <a:solidFill>
                <a:schemeClr val="bg1"/>
              </a:solidFill>
              <a:latin typeface="Merriweath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3225" y="3412143"/>
            <a:ext cx="2965400" cy="1461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200" dirty="0">
                <a:solidFill>
                  <a:srgbClr val="334155"/>
                </a:solidFill>
                <a:latin typeface="Inter"/>
              </a:rPr>
              <a:t>Base abstract class </a:t>
            </a:r>
            <a:r>
              <a:rPr lang="en-US" sz="1200" i="1" dirty="0">
                <a:solidFill>
                  <a:srgbClr val="334155"/>
                </a:solidFill>
                <a:latin typeface="Inter"/>
              </a:rPr>
              <a:t>Plant</a:t>
            </a:r>
            <a:r>
              <a:rPr lang="en-US" sz="1200" dirty="0">
                <a:solidFill>
                  <a:srgbClr val="334155"/>
                </a:solidFill>
                <a:latin typeface="Inter"/>
              </a:rPr>
              <a:t> manages common state and behaviors</a:t>
            </a: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.</a:t>
            </a:r>
            <a:br>
              <a:rPr lang="en-US" sz="1200" dirty="0" smtClean="0">
                <a:solidFill>
                  <a:srgbClr val="334155"/>
                </a:solidFill>
                <a:latin typeface="Inter"/>
              </a:rPr>
            </a:br>
            <a:r>
              <a:rPr lang="en-US" sz="1200" dirty="0" smtClean="0">
                <a:solidFill>
                  <a:srgbClr val="334155"/>
                </a:solidFill>
                <a:latin typeface="Inter"/>
              </a:rPr>
              <a:t/>
            </a:r>
            <a:br>
              <a:rPr lang="en-US" sz="1200" dirty="0" smtClean="0">
                <a:solidFill>
                  <a:srgbClr val="334155"/>
                </a:solidFill>
                <a:latin typeface="Inter"/>
              </a:rPr>
            </a:b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Specialized </a:t>
            </a:r>
            <a:r>
              <a:rPr lang="en-US" sz="1200" dirty="0">
                <a:solidFill>
                  <a:srgbClr val="334155"/>
                </a:solidFill>
                <a:latin typeface="Inter"/>
              </a:rPr>
              <a:t>subclasses (</a:t>
            </a:r>
            <a:r>
              <a:rPr lang="en-US" sz="1200" i="1" dirty="0">
                <a:solidFill>
                  <a:srgbClr val="334155"/>
                </a:solidFill>
                <a:latin typeface="Inter"/>
              </a:rPr>
              <a:t>Succulent, Fern</a:t>
            </a:r>
            <a:r>
              <a:rPr lang="en-US" sz="1200" dirty="0">
                <a:solidFill>
                  <a:srgbClr val="334155"/>
                </a:solidFill>
                <a:latin typeface="Inter"/>
              </a:rPr>
              <a:t>) inherit core functionality while enforcing specific schedule logic.</a:t>
            </a:r>
            <a:endParaRPr sz="12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75780" y="4479904"/>
            <a:ext cx="311367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Polymorphism</a:t>
            </a:r>
            <a:endParaRPr sz="1650" b="1" i="0" u="none" dirty="0">
              <a:solidFill>
                <a:schemeClr val="bg1"/>
              </a:solidFill>
              <a:latin typeface="Merriweath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2024" y="4874082"/>
            <a:ext cx="2965400" cy="705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200" dirty="0">
                <a:solidFill>
                  <a:srgbClr val="334155"/>
                </a:solidFill>
                <a:latin typeface="Inter"/>
              </a:rPr>
              <a:t>Subclasses override the </a:t>
            </a:r>
            <a:r>
              <a:rPr lang="en-US" sz="1200" i="1" dirty="0" err="1" smtClean="0">
                <a:solidFill>
                  <a:srgbClr val="334155"/>
                </a:solidFill>
                <a:latin typeface="Inter"/>
              </a:rPr>
              <a:t>checkNeedsWatering</a:t>
            </a:r>
            <a:r>
              <a:rPr lang="en-US" sz="1200" i="1" dirty="0" smtClean="0">
                <a:solidFill>
                  <a:srgbClr val="334155"/>
                </a:solidFill>
                <a:latin typeface="Inter"/>
              </a:rPr>
              <a:t>()</a:t>
            </a: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 method, and more.</a:t>
            </a:r>
            <a:br>
              <a:rPr lang="en-US" sz="1200" dirty="0" smtClean="0">
                <a:solidFill>
                  <a:srgbClr val="334155"/>
                </a:solidFill>
                <a:latin typeface="Inter"/>
              </a:rPr>
            </a:br>
            <a:endParaRPr sz="12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69848" y="541381"/>
            <a:ext cx="4852153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u="none" dirty="0">
                <a:solidFill>
                  <a:schemeClr val="accent1">
                    <a:lumMod val="50000"/>
                  </a:schemeClr>
                </a:solidFill>
                <a:latin typeface="Merriweather"/>
              </a:rPr>
              <a:t>Key System Components</a:t>
            </a:r>
          </a:p>
        </p:txBody>
      </p:sp>
      <p:sp>
        <p:nvSpPr>
          <p:cNvPr id="16" name="Rectangle 15"/>
          <p:cNvSpPr/>
          <p:nvPr/>
        </p:nvSpPr>
        <p:spPr>
          <a:xfrm flipV="1">
            <a:off x="1678074" y="1088812"/>
            <a:ext cx="8902677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40657" y="3778835"/>
            <a:ext cx="293683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GUI Infrastructure (Java Swing)</a:t>
            </a:r>
            <a:endParaRPr lang="en-US" b="1" dirty="0">
              <a:solidFill>
                <a:schemeClr val="bg1"/>
              </a:solidFill>
              <a:latin typeface="Merriweathe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12087" y="2894867"/>
            <a:ext cx="296540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The  </a:t>
            </a:r>
            <a:r>
              <a:rPr lang="en-US" sz="1200" dirty="0">
                <a:solidFill>
                  <a:srgbClr val="334155"/>
                </a:solidFill>
                <a:latin typeface="Inter"/>
              </a:rPr>
              <a:t>"last watered date" </a:t>
            </a: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variable is set to private so that it is hidden, along with some more variables.</a:t>
            </a:r>
            <a:endParaRPr sz="12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988648" y="2428640"/>
            <a:ext cx="1592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Encapsulation</a:t>
            </a:r>
            <a:endParaRPr lang="en-US" sz="2000" b="1" dirty="0">
              <a:solidFill>
                <a:schemeClr val="bg1"/>
              </a:solidFill>
              <a:latin typeface="Merriweather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64425" y="4299063"/>
            <a:ext cx="2965400" cy="948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200" dirty="0">
                <a:solidFill>
                  <a:srgbClr val="334155"/>
                </a:solidFill>
                <a:latin typeface="Inter"/>
              </a:rPr>
              <a:t>Layout Manager: </a:t>
            </a: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Utilizing </a:t>
            </a:r>
            <a:r>
              <a:rPr lang="en-US" sz="1200" dirty="0" err="1" smtClean="0">
                <a:solidFill>
                  <a:srgbClr val="334155"/>
                </a:solidFill>
                <a:latin typeface="Inter"/>
              </a:rPr>
              <a:t>JPanel</a:t>
            </a: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 from java Swing </a:t>
            </a: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and </a:t>
            </a:r>
            <a:r>
              <a:rPr lang="en-US" sz="1200" dirty="0" err="1" smtClean="0">
                <a:solidFill>
                  <a:srgbClr val="334155"/>
                </a:solidFill>
                <a:latin typeface="Inter"/>
              </a:rPr>
              <a:t>GridLayout</a:t>
            </a: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 to </a:t>
            </a:r>
            <a:r>
              <a:rPr lang="en-US" sz="1200" dirty="0">
                <a:solidFill>
                  <a:srgbClr val="334155"/>
                </a:solidFill>
                <a:latin typeface="Inter"/>
              </a:rPr>
              <a:t>organize plant card </a:t>
            </a:r>
            <a:r>
              <a:rPr lang="en-US" sz="1200" dirty="0" smtClean="0">
                <a:solidFill>
                  <a:srgbClr val="334155"/>
                </a:solidFill>
                <a:latin typeface="Inter"/>
              </a:rPr>
              <a:t>panels.</a:t>
            </a:r>
            <a:br>
              <a:rPr lang="en-US" sz="1200" dirty="0" smtClean="0">
                <a:solidFill>
                  <a:srgbClr val="334155"/>
                </a:solidFill>
                <a:latin typeface="Inter"/>
              </a:rPr>
            </a:br>
            <a:endParaRPr sz="1200" b="0" i="0" u="none" dirty="0">
              <a:solidFill>
                <a:srgbClr val="334155"/>
              </a:solidFill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15000" y="2537519"/>
            <a:ext cx="762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10539" y="2861369"/>
            <a:ext cx="737092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chemeClr val="tx2">
                    <a:lumMod val="50000"/>
                  </a:schemeClr>
                </a:solidFill>
                <a:latin typeface="Merriweather"/>
              </a:rPr>
              <a:t>03. Outcomes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813869"/>
            <a:ext cx="7620000" cy="752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1" i="0" u="none" dirty="0">
                <a:solidFill>
                  <a:schemeClr val="tx2">
                    <a:lumMod val="50000"/>
                  </a:schemeClr>
                </a:solidFill>
                <a:latin typeface="Inter Light"/>
              </a:rPr>
              <a:t>Empirical evidence, data analysis, and the final evaluation of the project's success.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00" y="57150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150" b="1" i="0" u="none" dirty="0" smtClean="0">
                <a:solidFill>
                  <a:srgbClr val="1E3A8A"/>
                </a:solidFill>
                <a:latin typeface="Merriweather"/>
              </a:rPr>
              <a:t>Results and Outcome</a:t>
            </a:r>
            <a:endParaRPr sz="3150" b="1" i="0" u="none" dirty="0">
              <a:solidFill>
                <a:srgbClr val="1E3A8A"/>
              </a:solidFill>
              <a:latin typeface="Merriweath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2" y="1375128"/>
            <a:ext cx="5728691" cy="406509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762000" y="5730010"/>
            <a:ext cx="5125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Figure: Output screen/interface showing some example plants in our program.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543" y="1293975"/>
            <a:ext cx="4663844" cy="453429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TextBox 7"/>
          <p:cNvSpPr txBox="1"/>
          <p:nvPr/>
        </p:nvSpPr>
        <p:spPr>
          <a:xfrm flipH="1">
            <a:off x="7240847" y="5828268"/>
            <a:ext cx="409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Figure: A warning being triggered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1824930"/>
            <a:ext cx="10580914" cy="2959784"/>
          </a:xfrm>
          <a:prstGeom prst="roundRect">
            <a:avLst>
              <a:gd name="adj" fmla="val 7683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24000" y="1847850"/>
            <a:ext cx="9620250" cy="2462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500" b="1" i="0" u="none" dirty="0">
                <a:solidFill>
                  <a:srgbClr val="1E3A8A"/>
                </a:solidFill>
                <a:latin typeface="Inter"/>
              </a:rPr>
              <a:t>Objectives Met</a:t>
            </a:r>
            <a:r>
              <a:rPr sz="15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500" b="0" i="0" u="none" dirty="0" smtClean="0">
                <a:solidFill>
                  <a:srgbClr val="334155"/>
                </a:solidFill>
                <a:latin typeface="Inter"/>
              </a:rPr>
              <a:t/>
            </a:r>
            <a:br>
              <a:rPr lang="en-US" sz="1500" b="0" i="0" u="none" dirty="0" smtClean="0">
                <a:solidFill>
                  <a:srgbClr val="334155"/>
                </a:solidFill>
                <a:latin typeface="Inter"/>
              </a:rPr>
            </a:br>
            <a:r>
              <a:rPr sz="1500" b="0" i="0" u="none" dirty="0" smtClean="0">
                <a:solidFill>
                  <a:srgbClr val="334155"/>
                </a:solidFill>
                <a:latin typeface="Inter"/>
              </a:rPr>
              <a:t>The </a:t>
            </a:r>
            <a:r>
              <a:rPr sz="1500" b="0" i="0" u="none" dirty="0">
                <a:solidFill>
                  <a:srgbClr val="334155"/>
                </a:solidFill>
                <a:latin typeface="Inter"/>
              </a:rPr>
              <a:t>project </a:t>
            </a:r>
            <a:r>
              <a:rPr sz="1500" b="0" i="0" u="none" dirty="0" smtClean="0">
                <a:solidFill>
                  <a:srgbClr val="334155"/>
                </a:solidFill>
                <a:latin typeface="Inter"/>
              </a:rPr>
              <a:t>successfully</a:t>
            </a:r>
            <a:r>
              <a:rPr lang="en-US" sz="1500" b="0" i="0" u="none" dirty="0" smtClean="0">
                <a:solidFill>
                  <a:srgbClr val="334155"/>
                </a:solidFill>
                <a:latin typeface="Inter"/>
              </a:rPr>
              <a:t> demonstrated the core objectives of</a:t>
            </a:r>
            <a:br>
              <a:rPr lang="en-US" sz="1500" b="0" i="0" u="none" dirty="0" smtClean="0">
                <a:solidFill>
                  <a:srgbClr val="334155"/>
                </a:solidFill>
                <a:latin typeface="Inter"/>
              </a:rPr>
            </a:br>
            <a:r>
              <a:rPr lang="en-US" sz="1500" b="0" i="0" u="none" dirty="0" smtClean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600" dirty="0"/>
              <a:t>● Abstraction &amp; Inheritance: Abstract class Plant. Subclasses like Succulent (water rarely) and Fern (water often).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● </a:t>
            </a:r>
            <a:r>
              <a:rPr lang="en-US" sz="1600" dirty="0"/>
              <a:t>Polymorphism: Override a </a:t>
            </a:r>
            <a:r>
              <a:rPr lang="en-US" sz="1600" dirty="0" err="1"/>
              <a:t>checkNeedsWatering</a:t>
            </a:r>
            <a:r>
              <a:rPr lang="en-US" sz="1600" dirty="0"/>
              <a:t>() method based on the specific plant's hardcoded moisture requirements.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● </a:t>
            </a:r>
            <a:r>
              <a:rPr lang="en-US" sz="1600" dirty="0"/>
              <a:t>Interface: An </a:t>
            </a:r>
            <a:r>
              <a:rPr lang="en-US" sz="1600" dirty="0" err="1"/>
              <a:t>Alertable</a:t>
            </a:r>
            <a:r>
              <a:rPr lang="en-US" sz="1600" dirty="0"/>
              <a:t> interface that triggers a visual warning when a plant is overdue.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● </a:t>
            </a:r>
            <a:r>
              <a:rPr lang="en-US" sz="1600" dirty="0"/>
              <a:t>Encapsulation &amp; Swing: Hide the "last watered date" variable. Use a Swing </a:t>
            </a:r>
            <a:r>
              <a:rPr lang="en-US" sz="1600" dirty="0" err="1"/>
              <a:t>JPanel</a:t>
            </a:r>
            <a:r>
              <a:rPr lang="en-US" sz="1600" dirty="0"/>
              <a:t> grid where each plant is a card that turns red (via </a:t>
            </a:r>
            <a:r>
              <a:rPr lang="en-US" sz="1600" dirty="0" err="1"/>
              <a:t>setBackground</a:t>
            </a:r>
            <a:r>
              <a:rPr lang="en-US" sz="1600" dirty="0"/>
              <a:t>) when thirsty. </a:t>
            </a:r>
            <a:r>
              <a:rPr lang="en-US" sz="1500" b="0" i="0" u="none" dirty="0" smtClean="0">
                <a:solidFill>
                  <a:srgbClr val="334155"/>
                </a:solidFill>
                <a:latin typeface="Inter"/>
              </a:rPr>
              <a:t> </a:t>
            </a:r>
            <a:endParaRPr sz="15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62000" y="4927589"/>
            <a:ext cx="10668000" cy="1487685"/>
          </a:xfrm>
          <a:prstGeom prst="roundRect">
            <a:avLst>
              <a:gd name="adj" fmla="val 7683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24000" y="5165714"/>
            <a:ext cx="962025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1E3A8A"/>
                </a:solidFill>
                <a:latin typeface="Inter"/>
              </a:rPr>
              <a:t>Known Limitations</a:t>
            </a:r>
            <a:r>
              <a:rPr sz="15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500" b="0" i="0" u="none" dirty="0" smtClean="0">
                <a:solidFill>
                  <a:srgbClr val="334155"/>
                </a:solidFill>
                <a:latin typeface="Inter"/>
              </a:rPr>
              <a:t/>
            </a:r>
            <a:br>
              <a:rPr lang="en-US" sz="1500" b="0" i="0" u="none" dirty="0" smtClean="0">
                <a:solidFill>
                  <a:srgbClr val="334155"/>
                </a:solidFill>
                <a:latin typeface="Inter"/>
              </a:rPr>
            </a:br>
            <a:r>
              <a:rPr sz="1500" b="0" i="0" u="none" dirty="0" smtClean="0">
                <a:solidFill>
                  <a:srgbClr val="334155"/>
                </a:solidFill>
                <a:latin typeface="Inter"/>
              </a:rPr>
              <a:t>While </a:t>
            </a:r>
            <a:r>
              <a:rPr sz="1500" b="0" i="0" u="none" dirty="0">
                <a:solidFill>
                  <a:srgbClr val="334155"/>
                </a:solidFill>
                <a:latin typeface="Inter"/>
              </a:rPr>
              <a:t>successful, the current scope was limited by </a:t>
            </a:r>
            <a:r>
              <a:rPr lang="en-US" sz="1500" b="0" i="0" u="none" dirty="0" smtClean="0">
                <a:solidFill>
                  <a:srgbClr val="334155"/>
                </a:solidFill>
                <a:latin typeface="Inter"/>
              </a:rPr>
              <a:t>the fact that this program would have to be opened all the time in a computer app/IDE</a:t>
            </a:r>
            <a:r>
              <a:rPr sz="1500" b="0" i="0" u="none" dirty="0" smtClean="0">
                <a:solidFill>
                  <a:srgbClr val="334155"/>
                </a:solidFill>
                <a:latin typeface="Inter"/>
              </a:rPr>
              <a:t>.</a:t>
            </a:r>
            <a:r>
              <a:rPr lang="en-US" sz="1500" b="0" i="0" u="none" dirty="0" smtClean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500" dirty="0" smtClean="0">
                <a:solidFill>
                  <a:srgbClr val="334155"/>
                </a:solidFill>
                <a:latin typeface="Inter"/>
              </a:rPr>
              <a:t>Thus, this was built to demonstrate the usage of OOP concepts, while the idea could be put into usage by using more advanced techniques.</a:t>
            </a:r>
            <a:endParaRPr sz="15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2000" y="640575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2000" y="6444257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41" y="2977491"/>
            <a:ext cx="2667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5533320"/>
            <a:ext cx="266700" cy="2762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1E3A8A"/>
                </a:solidFill>
                <a:latin typeface="Merriweather"/>
              </a:rPr>
              <a:t>Conclusion &amp; Future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" y="1910655"/>
            <a:ext cx="11201400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0" b="1" i="0" u="none">
                <a:solidFill>
                  <a:srgbClr val="1E3A8A"/>
                </a:solidFill>
                <a:latin typeface="Merriweather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0" y="3377505"/>
            <a:ext cx="571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3796605"/>
            <a:ext cx="106680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64748B"/>
                </a:solidFill>
                <a:latin typeface="Inter"/>
              </a:rPr>
              <a:t>Thank you for your time and feedback.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ppt/theme/theme3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4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5.xml><?xml version="1.0" encoding="utf-8"?>
<a:theme xmlns:a="http://schemas.openxmlformats.org/drawingml/2006/main" name="1_Io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2718</TotalTime>
  <Words>647</Words>
  <Application>Microsoft Office PowerPoint</Application>
  <PresentationFormat>Widescreen</PresentationFormat>
  <Paragraphs>46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28" baseType="lpstr">
      <vt:lpstr>Arial</vt:lpstr>
      <vt:lpstr>Calibri</vt:lpstr>
      <vt:lpstr>Century Gothic</vt:lpstr>
      <vt:lpstr>Corbel</vt:lpstr>
      <vt:lpstr>Impact</vt:lpstr>
      <vt:lpstr>Inter</vt:lpstr>
      <vt:lpstr>Inter Light</vt:lpstr>
      <vt:lpstr>Inter SemiBold</vt:lpstr>
      <vt:lpstr>Merriweather</vt:lpstr>
      <vt:lpstr>Merriweather Black</vt:lpstr>
      <vt:lpstr>Trebuchet MS</vt:lpstr>
      <vt:lpstr>Wingdings 3</vt:lpstr>
      <vt:lpstr>Facet</vt:lpstr>
      <vt:lpstr>Main Event</vt:lpstr>
      <vt:lpstr>Ion</vt:lpstr>
      <vt:lpstr>Depth</vt:lpstr>
      <vt:lpstr>1_Ion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adi</cp:lastModifiedBy>
  <cp:revision>27</cp:revision>
  <dcterms:created xsi:type="dcterms:W3CDTF">2013-01-27T09:14:16Z</dcterms:created>
  <dcterms:modified xsi:type="dcterms:W3CDTF">2026-08-15T16:45:39Z</dcterms:modified>
  <cp:category/>
</cp:coreProperties>
</file>